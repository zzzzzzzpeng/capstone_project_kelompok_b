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Radio Canada Medium"/>
      <p:regular r:id="rId201314"/>
    </p:embeddedFont>
    <p:embeddedFont>
      <p:font typeface="Radio Canada SemiBold"/>
      <p:regular r:id="rId201315"/>
    </p:embeddedFont>
    <p:embeddedFont>
      <p:font typeface="Radio Canada Bold"/>
      <p:regular r:id="rId201316"/>
    </p:embeddedFont>
    <p:embeddedFont>
      <p:font typeface="Radio Canada"/>
      <p:regular r:id="rId201317"/>
    </p:embeddedFont>
    <p:embeddedFont>
      <p:font typeface="Radio Canada Big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Memperkenalkan Capstone Project Kelompok B: Sumber Aquarium PGK, sistem informasi untuk pengelolaan toko ikan hias.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Permasalahan utama adalah pencatatan yang tersebar. Sistem dirancang sebagai satu pusat informasi agar stok, transaksi, dan riwayat operasional dapat dipantau secara terpadu.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dipilih untuk menjaga aplikasi tetap ringan, mudah dipelihara, dan memiliki fondasi backend serta basis data yang kuat.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 berkomunikasi dengan backend Flask melalui API, kemudian backend mengelola data PostgreSQL. Keamanan diterapkan pada autentikasi, integritas transaksi, dan perlindungan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modul inti mendukung kegiatan toko sehari-hari: monitoring, stok, pencatatan transaksi dan kematian, serta riwayat yang 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menunjukkan empat area utama yang tersedia di purwarupa: login CEO, dashboard, stok ikan, dan histori transaksi.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saat ini adalah purwarupa fungsional akademik. Tahap berikutnya berfokus pada keamanan produksi, optimasi tampilan, analitik, pengujian, dan RBAC.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Menutup presentasi dengan ucapan terima kasih, tautan repositori proyek, serta membuka sesi tanya jawab dan evaluasi teknis.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Zzzzzzzpeng/CAPSTONE_PROJECT_KELOMPOK_B" TargetMode="External"/><Relationship Id="rId2" Type="http://schemas.openxmlformats.org/officeDocument/2006/relationships/image" Target="../media/image-8-1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1803400"/>
            <a:ext cx="6857828" cy="5023842"/>
          </a:xfrm>
          <a:prstGeom prst="roundRect">
            <a:avLst>
              <a:gd name="adj" fmla="val 3868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88978" y="2070100"/>
            <a:ext cx="6095848" cy="1450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84" kern="0" dirty="0">
                <a:solidFill>
                  <a:srgbClr val="1E3A8A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Sumber Aquarium PGK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88978" y="3714552"/>
            <a:ext cx="60958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E3A8A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Sistem Informasi Pengelolaan Toko Ikan Hias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88978" y="4200327"/>
            <a:ext cx="609584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E3A8A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Capstone Project Program Studi S1 Sistem Informasi Universitas Terbuka — Kelompok B.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8978" y="4893667"/>
            <a:ext cx="3047924" cy="38100"/>
          </a:xfrm>
          <a:prstGeom prst="roundRect">
            <a:avLst>
              <a:gd name="adj" fmla="val 49999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88978" y="5179417"/>
            <a:ext cx="6095848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Dimas (050039851)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— Fondasi Sistem &amp; Data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Dhea Handanur Aini (050417407)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— Dokumentasi &amp; Proposal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Kamaludin (050595262)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— Komunikasi Visual &amp; Presentasi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Muhamad Arpan Kurnia (051102736)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— Full-Stack &amp; Integrasi Sistem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LATAR BELAKANG &amp; TUJUAN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807045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Integrasi alur operasional terpusat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7987" y="1544141"/>
            <a:ext cx="11074123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Mengintegrasikan pencatatan manual toko ikan hias ke dalam satu ekosistem informasi digital yang terstruktur dan terpadu.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87" y="321974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7987" y="3521968"/>
            <a:ext cx="3488146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07987" y="3670498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Tantangan operasional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7987" y="4172744"/>
            <a:ext cx="348814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Persediaan ikan, transaksi penjualan, dan pencatatan kematian terfragmentasi serta rawan selisih stok fisik.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00926" y="321974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0926" y="3521968"/>
            <a:ext cx="3488146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300926" y="3670498"/>
            <a:ext cx="34881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Pusat informasi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300926" y="4172744"/>
            <a:ext cx="348814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Seluruh siklus bisnis toko terhubung dalam sistem berbasis web dan basis data relasional terpusat.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93865" y="321974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93865" y="3521968"/>
            <a:ext cx="3488146" cy="190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093865" y="3670498"/>
            <a:ext cx="348824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Visibilitas &amp; kontrol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093865" y="4172744"/>
            <a:ext cx="3488246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Dashboard ringkas memantau riwayat pergerakan ikan dan performa penjualan secara real-time.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TEKNOLOGI UTAMA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807045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Fondasi full-stack handal dan efisien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7987" y="1544141"/>
            <a:ext cx="11074123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9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Kombinasi teknologi web modern, backend tangguh, dan database relasional untuk kinerja sistem yang stabil.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7987" y="2437507"/>
            <a:ext cx="2539936" cy="3963293"/>
          </a:xfrm>
          <a:prstGeom prst="roundRect">
            <a:avLst>
              <a:gd name="adj" fmla="val 7650"/>
            </a:avLst>
          </a:prstGeom>
          <a:solidFill>
            <a:srgbClr val="E3F4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03" y="2815332"/>
            <a:ext cx="539736" cy="539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582" y="3732907"/>
            <a:ext cx="20827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Backend &amp; API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36582" y="4235152"/>
            <a:ext cx="2082748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Python dan Flask untuk routing RESTful API, session handling, serta orkestrasi logika bisnis.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352716" y="2437507"/>
            <a:ext cx="2539936" cy="3963293"/>
          </a:xfrm>
          <a:prstGeom prst="roundRect">
            <a:avLst>
              <a:gd name="adj" fmla="val 7650"/>
            </a:avLst>
          </a:prstGeom>
          <a:solidFill>
            <a:srgbClr val="F3FB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532" y="2815332"/>
            <a:ext cx="539736" cy="539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1310" y="3732907"/>
            <a:ext cx="20827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Basis Data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3581310" y="4235152"/>
            <a:ext cx="208274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PostgreSQL dan Psycopg 3 dengan integritas foreign key ON DELETE RESTRICT.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197445" y="2437507"/>
            <a:ext cx="2539936" cy="3963293"/>
          </a:xfrm>
          <a:prstGeom prst="roundRect">
            <a:avLst>
              <a:gd name="adj" fmla="val 7650"/>
            </a:avLst>
          </a:prstGeom>
          <a:solidFill>
            <a:srgbClr val="FFE7E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261" y="2815332"/>
            <a:ext cx="539736" cy="539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039" y="3732907"/>
            <a:ext cx="20827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Frontend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6426039" y="4235152"/>
            <a:ext cx="208274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HTML5, CSS3 responsif Grid/Flexbox, dan Vanilla JavaScript interaktif.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9042174" y="2437507"/>
            <a:ext cx="2539936" cy="3963293"/>
          </a:xfrm>
          <a:prstGeom prst="roundRect">
            <a:avLst>
              <a:gd name="adj" fmla="val 7650"/>
            </a:avLst>
          </a:prstGeom>
          <a:solidFill>
            <a:srgbClr val="F2F8F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9989" y="2815332"/>
            <a:ext cx="539736" cy="539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270768" y="3732907"/>
            <a:ext cx="20827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Produksi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9270768" y="4235152"/>
            <a:ext cx="2082748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Gunicorn untuk eksekusi server serta python-dotenv untuk konfigurasi variabel lingkungan.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ARSITEKTUR &amp; KEAMANAN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807045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Alur data client-server dengan proteksi berlapis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7987" y="1544141"/>
            <a:ext cx="1168370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Arsitektur 3-tier memisahkan presentasi antarmuka, pemrosesan logika, dan persistensi data.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22" y="2828826"/>
            <a:ext cx="6478922" cy="2793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5018" y="3148858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Browser Client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45018" y="3796751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HTTP JSON API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45018" y="4438165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Flask Backend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45018" y="5079579"/>
            <a:ext cx="3562917" cy="202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3066" y="2050852"/>
            <a:ext cx="3539044" cy="4349948"/>
          </a:xfrm>
          <a:prstGeom prst="roundRect">
            <a:avLst>
              <a:gd name="adj" fmla="val 5490"/>
            </a:avLst>
          </a:prstGeom>
          <a:solidFill>
            <a:srgbClr val="E3F4F1"/>
          </a:solidFill>
          <a:ln/>
        </p:spPr>
      </p:sp>
      <p:sp>
        <p:nvSpPr>
          <p:cNvPr id="12" name="Text 9"/>
          <p:cNvSpPr/>
          <p:nvPr/>
        </p:nvSpPr>
        <p:spPr>
          <a:xfrm>
            <a:off x="8271660" y="2279452"/>
            <a:ext cx="308185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Proteksi berlapis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271660" y="2781697"/>
            <a:ext cx="3081856" cy="274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Autentikasi: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Argon2, session cookie terenkripsi, HttpOnly, SameSite=Lax.</a:t>
            </a:r>
            <a:endParaRPr lang="en-US" sz="1500" dirty="0"/>
          </a:p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Integritas:</a:t>
            </a:r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SQL Parameterisation dan SELECT ... FOR UPDATE saat mutasi stok.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Server: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Flask-Limiter: 300 req/min, login 5 req/min; HTTP Security Headers.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254000"/>
            <a:ext cx="8635784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FITUR INTI SISTEM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553045"/>
            <a:ext cx="8356391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Solusi terpadu dari hulu ke hilir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1565223"/>
            <a:ext cx="539736" cy="539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4761" y="1840309"/>
            <a:ext cx="28828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Dashboard Monitoring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74761" y="2342555"/>
            <a:ext cx="288282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Ringkasan persediaan, total transaksi, nilai penjualan, dan 5 aktivitas transaksi/kematian terkini.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777" y="1565223"/>
            <a:ext cx="539736" cy="539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1550" y="1840309"/>
            <a:ext cx="288282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Manajemen Stok Ikan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981550" y="2342555"/>
            <a:ext cx="288282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Katalog inventaris lengkap (nama, kategori, harga, stok); pencarian dinamis, penambahan stok, dan penghapusan data.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4179737"/>
            <a:ext cx="539736" cy="539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74761" y="4454823"/>
            <a:ext cx="288282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Pencatatan Penjualan &amp; Kematian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1574761" y="5303738"/>
            <a:ext cx="288282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Form validasi transaksi otomatis: mengupdate stok secara real-time, disertai validasi kuantitas.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777" y="4179737"/>
            <a:ext cx="539736" cy="539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81550" y="4454823"/>
            <a:ext cx="288282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Histori Operasional &amp; Autentikasi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5981550" y="5303738"/>
            <a:ext cx="288282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Rekapitulasi kronologis riwayat penjualan dan pencatatan mortalitas ikan; gerbang autentikasi CEO.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771" y="0"/>
            <a:ext cx="3047924" cy="68580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676658" y="1290141"/>
            <a:ext cx="19050" cy="2385913"/>
          </a:xfrm>
          <a:prstGeom prst="rect">
            <a:avLst/>
          </a:prstGeom>
          <a:solidFill>
            <a:srgbClr val="C6DBD7"/>
          </a:solidFill>
          <a:ln/>
        </p:spPr>
      </p:sp>
      <p:sp>
        <p:nvSpPr>
          <p:cNvPr id="19" name="Shape 12"/>
          <p:cNvSpPr/>
          <p:nvPr/>
        </p:nvSpPr>
        <p:spPr>
          <a:xfrm>
            <a:off x="507987" y="3666530"/>
            <a:ext cx="4178195" cy="19050"/>
          </a:xfrm>
          <a:prstGeom prst="rect">
            <a:avLst/>
          </a:prstGeom>
          <a:solidFill>
            <a:srgbClr val="C6DBD7"/>
          </a:solidFill>
          <a:ln/>
        </p:spPr>
      </p:sp>
      <p:sp>
        <p:nvSpPr>
          <p:cNvPr id="20" name="Shape 13"/>
          <p:cNvSpPr/>
          <p:nvPr/>
        </p:nvSpPr>
        <p:spPr>
          <a:xfrm>
            <a:off x="4676658" y="3676055"/>
            <a:ext cx="19050" cy="2732584"/>
          </a:xfrm>
          <a:prstGeom prst="rect">
            <a:avLst/>
          </a:prstGeom>
          <a:solidFill>
            <a:srgbClr val="C6DBD7"/>
          </a:solidFill>
          <a:ln/>
        </p:spPr>
      </p:sp>
      <p:sp>
        <p:nvSpPr>
          <p:cNvPr id="21" name="Shape 14"/>
          <p:cNvSpPr/>
          <p:nvPr/>
        </p:nvSpPr>
        <p:spPr>
          <a:xfrm>
            <a:off x="4686183" y="3666530"/>
            <a:ext cx="4178195" cy="19050"/>
          </a:xfrm>
          <a:prstGeom prst="rect">
            <a:avLst/>
          </a:prstGeom>
          <a:solidFill>
            <a:srgbClr val="C6DBD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DEMO ANTARMUKA APLIKASI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807045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Purwarupa sistem terpasang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7987" y="1544141"/>
            <a:ext cx="1168370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Visualisasi antarmuka pengguna pada modul-modul utama sistem Sumber Aquarium PGK.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7987" y="2050852"/>
            <a:ext cx="2539936" cy="3436838"/>
          </a:xfrm>
          <a:prstGeom prst="roundRect">
            <a:avLst>
              <a:gd name="adj" fmla="val 7650"/>
            </a:avLst>
          </a:prstGeom>
          <a:solidFill>
            <a:srgbClr val="E3F4F1"/>
          </a:solidFill>
          <a:ln/>
        </p:spPr>
      </p:sp>
      <p:sp>
        <p:nvSpPr>
          <p:cNvPr id="7" name="Text 5"/>
          <p:cNvSpPr/>
          <p:nvPr/>
        </p:nvSpPr>
        <p:spPr>
          <a:xfrm>
            <a:off x="736582" y="2279452"/>
            <a:ext cx="20827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Login CEO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6582" y="2781697"/>
            <a:ext cx="208274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Validasi credential dan proteksi brute-force.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52716" y="2050852"/>
            <a:ext cx="2539936" cy="3436838"/>
          </a:xfrm>
          <a:prstGeom prst="roundRect">
            <a:avLst>
              <a:gd name="adj" fmla="val 7650"/>
            </a:avLst>
          </a:prstGeom>
          <a:solidFill>
            <a:srgbClr val="F3FBD6"/>
          </a:solidFill>
          <a:ln/>
        </p:spPr>
      </p:sp>
      <p:sp>
        <p:nvSpPr>
          <p:cNvPr id="10" name="Text 8"/>
          <p:cNvSpPr/>
          <p:nvPr/>
        </p:nvSpPr>
        <p:spPr>
          <a:xfrm>
            <a:off x="3581310" y="2279452"/>
            <a:ext cx="20827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Dashboard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581310" y="2781697"/>
            <a:ext cx="208274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Indikator metrik, status sinkronisasi, dan log aktivitas.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7445" y="2050852"/>
            <a:ext cx="2539936" cy="3436838"/>
          </a:xfrm>
          <a:prstGeom prst="roundRect">
            <a:avLst>
              <a:gd name="adj" fmla="val 7650"/>
            </a:avLst>
          </a:prstGeom>
          <a:solidFill>
            <a:srgbClr val="FFE7E0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039" y="2279452"/>
            <a:ext cx="208274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Stok Ikan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26039" y="2781697"/>
            <a:ext cx="208274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Grid inventaris harga, kuantitas, dan kategori ikan hias.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42174" y="2050852"/>
            <a:ext cx="2539936" cy="3436838"/>
          </a:xfrm>
          <a:prstGeom prst="roundRect">
            <a:avLst>
              <a:gd name="adj" fmla="val 7650"/>
            </a:avLst>
          </a:prstGeom>
          <a:solidFill>
            <a:srgbClr val="F2F8F7"/>
          </a:solidFill>
          <a:ln/>
        </p:spPr>
      </p:sp>
      <p:sp>
        <p:nvSpPr>
          <p:cNvPr id="16" name="Text 14"/>
          <p:cNvSpPr/>
          <p:nvPr/>
        </p:nvSpPr>
        <p:spPr>
          <a:xfrm>
            <a:off x="9270768" y="2279452"/>
            <a:ext cx="208274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Riwayat Transaksi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270768" y="3128367"/>
            <a:ext cx="208274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Tabel audit penjualan dan laporan mortalitas ikan hias.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7987" y="5681365"/>
            <a:ext cx="11074123" cy="719435"/>
          </a:xfrm>
          <a:prstGeom prst="roundRect">
            <a:avLst>
              <a:gd name="adj" fmla="val 27008"/>
            </a:avLst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507987" y="5884565"/>
            <a:ext cx="11074123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Modul terhubung dalam satu purwarupa pengelolaan toko ikan hias berbasis web.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68370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STATUS PROYEK &amp; ROADMAP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7987" y="807045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00" b="1" spc="-3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Status Proyek &amp; Rencana Pengembangan Lanjutan (Roadmap)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7987" y="2065338"/>
            <a:ext cx="11683708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Evaluasi purwarupa sistem saat ini dan arah pengembangan menuju sistem siap produksi skala penuh.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7987" y="2572048"/>
            <a:ext cx="5384665" cy="1876227"/>
          </a:xfrm>
          <a:prstGeom prst="roundRect">
            <a:avLst>
              <a:gd name="adj" fmla="val 10356"/>
            </a:avLst>
          </a:prstGeom>
          <a:solidFill>
            <a:srgbClr val="E3F4F1"/>
          </a:solidFill>
          <a:ln/>
        </p:spPr>
      </p:sp>
      <p:sp>
        <p:nvSpPr>
          <p:cNvPr id="7" name="Text 5"/>
          <p:cNvSpPr/>
          <p:nvPr/>
        </p:nvSpPr>
        <p:spPr>
          <a:xfrm>
            <a:off x="736582" y="2800648"/>
            <a:ext cx="49274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Status Saat Ini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6582" y="3253383"/>
            <a:ext cx="492747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Purwarupa fungsional (Functional Prototype) akademik yang telah menguji alur bisnis inti dan integrasi database.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97445" y="2572048"/>
            <a:ext cx="5384665" cy="1876227"/>
          </a:xfrm>
          <a:prstGeom prst="roundRect">
            <a:avLst>
              <a:gd name="adj" fmla="val 10356"/>
            </a:avLst>
          </a:prstGeom>
          <a:solidFill>
            <a:srgbClr val="F3FBD6"/>
          </a:solidFill>
          <a:ln/>
        </p:spPr>
      </p:sp>
      <p:sp>
        <p:nvSpPr>
          <p:cNvPr id="10" name="Text 8"/>
          <p:cNvSpPr/>
          <p:nvPr/>
        </p:nvSpPr>
        <p:spPr>
          <a:xfrm>
            <a:off x="6426039" y="2800648"/>
            <a:ext cx="49274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Keamanan &amp; Skalabilitas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26039" y="3253383"/>
            <a:ext cx="492747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Implementasi proteksi token CSRF pada endpoint mutasi, pengaktifan HTTPS penuh (Secure Cookie), dan shared rate-limit storage.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7987" y="4753074"/>
            <a:ext cx="5384665" cy="1876326"/>
          </a:xfrm>
          <a:prstGeom prst="roundRect">
            <a:avLst>
              <a:gd name="adj" fmla="val 10356"/>
            </a:avLst>
          </a:prstGeom>
          <a:solidFill>
            <a:srgbClr val="E3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736582" y="4981674"/>
            <a:ext cx="49274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Optimasi Frontend &amp; Fitur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6582" y="5434409"/>
            <a:ext cx="492747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Penambahan server-side pagination, advanced filtering, visual analytics grafik penjualan, dan automated testing suite.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97445" y="4753074"/>
            <a:ext cx="5384665" cy="1876326"/>
          </a:xfrm>
          <a:prstGeom prst="roundRect">
            <a:avLst>
              <a:gd name="adj" fmla="val 10356"/>
            </a:avLst>
          </a:prstGeom>
          <a:solidFill>
            <a:srgbClr val="F3FBD6"/>
          </a:solidFill>
          <a:ln/>
        </p:spPr>
      </p:sp>
      <p:sp>
        <p:nvSpPr>
          <p:cNvPr id="16" name="Text 14"/>
          <p:cNvSpPr/>
          <p:nvPr/>
        </p:nvSpPr>
        <p:spPr>
          <a:xfrm>
            <a:off x="6426039" y="4981674"/>
            <a:ext cx="4927477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Ekstensi Kontrol Akses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6039" y="5434409"/>
            <a:ext cx="492747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Pengembangan Role-Based Access Control (RBAC) untuk membedakan hak akses Administrator, Kasir, dan Pengelola Stok.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03064"/>
            <a:ext cx="5892653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14" kern="0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PENUTUP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002109"/>
            <a:ext cx="5384665" cy="93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200" b="1" spc="-108" kern="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Terima kasih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09585" y="2128441"/>
            <a:ext cx="538466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Repositori Proyek &amp; Sesi Tanya Jawab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614216"/>
            <a:ext cx="538466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Terima kasih kepada dosen penguji dan pembimbing atas masukan dan evaluasi akademik.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585" y="3487936"/>
            <a:ext cx="2692333" cy="38100"/>
          </a:xfrm>
          <a:prstGeom prst="roundRect">
            <a:avLst>
              <a:gd name="adj" fmla="val 49999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773686"/>
            <a:ext cx="5384665" cy="1851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Akses Source Code</a:t>
            </a:r>
            <a:endParaRPr lang="en-US" sz="1500" dirty="0"/>
          </a:p>
          <a:p>
            <a:pPr algn="l" indent="0" marL="0">
              <a:lnSpc>
                <a:spcPct val="121000"/>
              </a:lnSpc>
              <a:spcAft>
                <a:spcPts val="1500"/>
              </a:spcAft>
              <a:buNone/>
            </a:pPr>
            <a:r>
              <a:rPr lang="en-US" sz="1500" b="1" u="sng" dirty="0">
                <a:solidFill>
                  <a:srgbClr val="0F766E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github.com/Zzzzzzzpeng/CAPSTONE_PROJECT_KELOMPOK_B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Dokumentasi Akademik</a:t>
            </a:r>
            <a:endParaRPr lang="en-US" sz="15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Laporan Karya Ilmiah dan artefak capstone lengkap tersedia dalam repositori proyek.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5818386"/>
            <a:ext cx="1727653" cy="336649"/>
          </a:xfrm>
          <a:prstGeom prst="roundRect">
            <a:avLst>
              <a:gd name="adj" fmla="val 46174"/>
            </a:avLst>
          </a:prstGeom>
          <a:solidFill>
            <a:srgbClr val="D2F9F6"/>
          </a:solidFill>
          <a:ln/>
        </p:spPr>
      </p:sp>
      <p:sp>
        <p:nvSpPr>
          <p:cNvPr id="9" name="Text 7"/>
          <p:cNvSpPr/>
          <p:nvPr/>
        </p:nvSpPr>
        <p:spPr>
          <a:xfrm>
            <a:off x="739062" y="5883077"/>
            <a:ext cx="207828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14" kern="0" dirty="0">
                <a:solidFill>
                  <a:srgbClr val="0B2A33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Sesi Tanya Jawab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37" y="304800"/>
            <a:ext cx="5384665" cy="624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F766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2026-09-28T01:51:39Z</dcterms:created>
  <dcterms:modified xsi:type="dcterms:W3CDTF">2026-09-28T01:51:39Z</dcterms:modified>
</cp:coreProperties>
</file>