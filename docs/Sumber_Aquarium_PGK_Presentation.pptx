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Pembuka: Sumber Aquarium PGK adalah aplikasi web internal untuk mengelola operasional toko ikan hias. Presentasi ini fokus pada sistem yang benar-benar ada di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tiga kebutuhan yang saling terkait: inventaris, transaksi, dan mortalitas. Ketiganya membutuhkan konsistensi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bahwa sistem bukan hanya katalog. Data ikan menjadi sumber bagi transaksi dan histori.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Gunakan slide ini sebagai peta demo: dashboard, stok, input ikan, penjualan, dua histori, kematian, dan profil CEO.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Database utama menggunakan tabel ikan, riwayat_penjualan, riwayat_kematian, dan akun CEO. Foreign key menghubungkan histori dengan ikan.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aliran request dari browser sampai PostgreSQL. Gunicorn menjadi WSGI server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salah satu bagian teknis penting. SELECT FOR UPDATE dan transaksi PostgreSQL digunakan agar perubahan stok dan histori berjalan konsisten.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keamanan secara praktis: password Argon2, session, rate limiting, validasi, security headers, dan integritas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adalah alur yang paling mudah diikuti audiens saat demo aplikasi.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Teknologi dipilih dengan prinsip sederhana: backend Python/Flask, PostgreSQL sebagai database relasional, dan frontend Vanilla JavaScript.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Saat demo, jangan lompat-lompat. Tunjukkan perubahan stok setelah transaksi, kemudian buktikan transaksi masuk histori.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Penutup: tekankan nilai sistem sebagai satu sumber data operasional yang dapat ditelusuri.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73152"/>
          </a:xfrm>
          <a:prstGeom prst="rect">
            <a:avLst/>
          </a:prstGeom>
          <a:solidFill>
            <a:srgbClr val="09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28816"/>
            <a:ext cx="12191695" cy="73152"/>
          </a:xfrm>
          <a:prstGeom prst="rect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274320"/>
            <a:ext cx="2560320" cy="2560320"/>
          </a:xfrm>
          <a:prstGeom prst="ellipse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1828800"/>
            <a:ext cx="1280160" cy="1280160"/>
          </a:xfrm>
          <a:prstGeom prst="ellipse">
            <a:avLst/>
          </a:prstGeom>
          <a:solidFill>
            <a:srgbClr val="2EC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79" y="3566160"/>
            <a:ext cx="2011680" cy="2011680"/>
          </a:xfrm>
          <a:prstGeom prst="ellipse">
            <a:avLst/>
          </a:prstGeom>
          <a:solidFill>
            <a:srgbClr val="09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1440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6FE6DC"/>
                </a:solidFill>
                <a:latin typeface="Aptos"/>
              </a:rPr>
              <a:t>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43000"/>
            <a:ext cx="7680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F5F9FC"/>
                </a:solidFill>
                <a:latin typeface="Aptos"/>
              </a:rPr>
              <a:t>SUMBER AQUARIUM PGK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74519"/>
            <a:ext cx="7223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6FE6DC"/>
                </a:solidFill>
                <a:latin typeface="Aptos"/>
              </a:rPr>
              <a:t>Sistem Manajemen &amp; Inventaris Toko Ikan Hias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87168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AAC4D2"/>
                </a:solidFill>
                <a:latin typeface="Aptos"/>
              </a:rPr>
              <a:t>Capstone Project • Sistem Informasi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46120"/>
            <a:ext cx="1325880" cy="310896"/>
          </a:xfrm>
          <a:prstGeom prst="roundRect">
            <a:avLst/>
          </a:prstGeom>
          <a:solidFill>
            <a:srgbClr val="2EC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55263"/>
            <a:ext cx="13258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INVENTORY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76272" y="3246120"/>
            <a:ext cx="1051560" cy="310896"/>
          </a:xfrm>
          <a:prstGeom prst="roundRect">
            <a:avLst/>
          </a:prstGeom>
          <a:solidFill>
            <a:srgbClr val="FF7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76272" y="3255263"/>
            <a:ext cx="10515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SALES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3246120"/>
            <a:ext cx="1325880" cy="310896"/>
          </a:xfrm>
          <a:prstGeom prst="roundRect">
            <a:avLst/>
          </a:prstGeom>
          <a:solidFill>
            <a:srgbClr val="47C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5848" y="3255263"/>
            <a:ext cx="13258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MORTALITY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0600" y="3246120"/>
            <a:ext cx="1417320" cy="310896"/>
          </a:xfrm>
          <a:prstGeom prst="roundRect">
            <a:avLst/>
          </a:prstGeom>
          <a:solidFill>
            <a:srgbClr val="6F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3255263"/>
            <a:ext cx="1417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OPERATIONS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AAC4D2"/>
                </a:solidFill>
                <a:latin typeface="Aptos"/>
              </a:rPr>
              <a:t>Berbasis Python • Flask • PostgreSQL • Vanilla JavaScript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064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AC4D2"/>
                </a:solidFill>
                <a:latin typeface="Aptos"/>
              </a:rPr>
              <a:t>GitHub: Zzzzzzzpeng/sumber-aquarium-pgk2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65392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AC4D2"/>
                </a:solidFill>
                <a:latin typeface="Aptos"/>
              </a:rPr>
              <a:t>SUMBER AQUARIUM PGK  •  CAPSTONE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51967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2EC9D6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73152"/>
          </a:xfrm>
          <a:prstGeom prst="rect">
            <a:avLst/>
          </a:prstGeom>
          <a:solidFill>
            <a:srgbClr val="09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28816"/>
            <a:ext cx="12191695" cy="73152"/>
          </a:xfrm>
          <a:prstGeom prst="rect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EC9D6"/>
                </a:solidFill>
                <a:latin typeface="Aptos"/>
              </a:rPr>
              <a:t>01 • MASALAH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5F9FC"/>
                </a:solidFill>
                <a:latin typeface="Aptos"/>
              </a:rPr>
              <a:t>Operasional toko membutuhkan satu sumber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AC4D2"/>
                </a:solidFill>
                <a:latin typeface="Aptos"/>
              </a:rPr>
              <a:t>Sistem dirancang untuk memusatkan aktivitas operasional yang saling berkaitan.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3337560" cy="196596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1343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C9D6"/>
                </a:solidFill>
                <a:latin typeface="Aptos"/>
              </a:rPr>
              <a:t>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13432"/>
            <a:ext cx="2880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Inventaris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70632"/>
            <a:ext cx="288036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Data ikan, kategori, foto, jumlah stok, dan harga tersimpan terstruktur.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2148840"/>
            <a:ext cx="3337560" cy="196596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231343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775C"/>
                </a:solidFill>
                <a:latin typeface="Aptos"/>
              </a:rPr>
              <a:t>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3208" y="2313432"/>
            <a:ext cx="2880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Transaksi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770632"/>
            <a:ext cx="288036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Penjualan harus memvalidasi stok, menghitung total, lalu mencatat riwayat.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2148840"/>
            <a:ext cx="3337560" cy="196596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231343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7CE8E"/>
                </a:solidFill>
                <a:latin typeface="Aptos"/>
              </a:rPr>
              <a:t>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2313432"/>
            <a:ext cx="2880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Mortalitas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70632"/>
            <a:ext cx="288036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Kematian ikan mengurangi stok dan meninggalkan catatan operasional.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7091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C9D6"/>
                </a:solidFill>
                <a:latin typeface="Aptos"/>
              </a:rPr>
              <a:t>Inti desain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663440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F9FC"/>
                </a:solidFill>
                <a:latin typeface="Aptos"/>
              </a:rPr>
              <a:t>Satu sistem → satu database → alur perubahan stok yang konsisten.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65392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AC4D2"/>
                </a:solidFill>
                <a:latin typeface="Aptos"/>
              </a:rPr>
              <a:t>SUMBER AQUARIUM PGK  •  CAPSTONE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51967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2EC9D6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73152"/>
          </a:xfrm>
          <a:prstGeom prst="rect">
            <a:avLst/>
          </a:prstGeom>
          <a:solidFill>
            <a:srgbClr val="09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28816"/>
            <a:ext cx="12191695" cy="73152"/>
          </a:xfrm>
          <a:prstGeom prst="rect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EC9D6"/>
                </a:solidFill>
                <a:latin typeface="Aptos"/>
              </a:rPr>
              <a:t>02 • SOLUSI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5F9FC"/>
                </a:solidFill>
                <a:latin typeface="Aptos"/>
              </a:rPr>
              <a:t>Sumber Aquarium menghubungkan seluruh siklus stok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965960"/>
            <a:ext cx="713232" cy="713232"/>
          </a:xfrm>
          <a:prstGeom prst="ellipse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84248"/>
            <a:ext cx="713232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5F9FC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816352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5F9FC"/>
                </a:solidFill>
                <a:latin typeface="Aptos"/>
              </a:rPr>
              <a:t>DATA IKAN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63040" y="2322576"/>
            <a:ext cx="1463040" cy="0"/>
          </a:xfrm>
          <a:prstGeom prst="line">
            <a:avLst/>
          </a:prstGeom>
          <a:ln w="1905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971800" y="1965960"/>
            <a:ext cx="713232" cy="713232"/>
          </a:xfrm>
          <a:prstGeom prst="ellipse">
            <a:avLst/>
          </a:prstGeom>
          <a:solidFill>
            <a:srgbClr val="FF7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1984248"/>
            <a:ext cx="713232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5F9FC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816352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5F9FC"/>
                </a:solidFill>
                <a:latin typeface="Aptos"/>
              </a:rPr>
              <a:t>PENJUALAN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03320" y="2322576"/>
            <a:ext cx="1463040" cy="0"/>
          </a:xfrm>
          <a:prstGeom prst="line">
            <a:avLst/>
          </a:prstGeom>
          <a:ln w="1905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212080" y="1965960"/>
            <a:ext cx="713232" cy="713232"/>
          </a:xfrm>
          <a:prstGeom prst="ellipse">
            <a:avLst/>
          </a:prstGeom>
          <a:solidFill>
            <a:srgbClr val="47C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984248"/>
            <a:ext cx="713232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5F9FC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816352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5F9FC"/>
                </a:solidFill>
                <a:latin typeface="Aptos"/>
              </a:rPr>
              <a:t>KEMATIAN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2322576"/>
            <a:ext cx="1463040" cy="0"/>
          </a:xfrm>
          <a:prstGeom prst="line">
            <a:avLst/>
          </a:prstGeom>
          <a:ln w="1905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452360" y="1965960"/>
            <a:ext cx="713232" cy="713232"/>
          </a:xfrm>
          <a:prstGeom prst="ellipse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1984248"/>
            <a:ext cx="713232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5F9FC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816352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5F9FC"/>
                </a:solidFill>
                <a:latin typeface="Aptos"/>
              </a:rPr>
              <a:t>RIWAYAT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83880" y="2322576"/>
            <a:ext cx="1463039" cy="0"/>
          </a:xfrm>
          <a:prstGeom prst="line">
            <a:avLst/>
          </a:prstGeom>
          <a:ln w="1905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9692640" y="1965960"/>
            <a:ext cx="713232" cy="713232"/>
          </a:xfrm>
          <a:prstGeom prst="ellipse">
            <a:avLst/>
          </a:prstGeom>
          <a:solidFill>
            <a:srgbClr val="2EC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1984248"/>
            <a:ext cx="713232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5F9FC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816352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5F9FC"/>
                </a:solidFill>
                <a:latin typeface="Aptos"/>
              </a:rPr>
              <a:t>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4389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5F9FC"/>
                </a:solidFill>
                <a:latin typeface="Aptos"/>
              </a:rPr>
              <a:t>Perubahan stok tidak berdiri sendiri.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315968"/>
            <a:ext cx="9875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AAC4D2"/>
                </a:solidFill>
                <a:latin typeface="Aptos"/>
              </a:rPr>
              <a:t>Penjualan dan kematian sama-sama melalui validasi stok, transaksi database, lalu pencatatan histori.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34640" y="5394960"/>
            <a:ext cx="6583680" cy="310896"/>
          </a:xfrm>
          <a:prstGeom prst="roundRect">
            <a:avLst/>
          </a:prstGeom>
          <a:solidFill>
            <a:srgbClr val="6F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34640" y="5404104"/>
            <a:ext cx="65836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DATA → VALIDASI → TRANSAKSI → RIWAYAT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565392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AC4D2"/>
                </a:solidFill>
                <a:latin typeface="Aptos"/>
              </a:rPr>
              <a:t>SUMBER AQUARIUM PGK  •  CAPSTONE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51967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2EC9D6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73152"/>
          </a:xfrm>
          <a:prstGeom prst="rect">
            <a:avLst/>
          </a:prstGeom>
          <a:solidFill>
            <a:srgbClr val="09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28816"/>
            <a:ext cx="12191695" cy="73152"/>
          </a:xfrm>
          <a:prstGeom prst="rect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EC9D6"/>
                </a:solidFill>
                <a:latin typeface="Aptos"/>
              </a:rPr>
              <a:t>03 • FITUR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5F9FC"/>
                </a:solidFill>
                <a:latin typeface="Aptos"/>
              </a:rPr>
              <a:t>Modul aplikasi mencerminkan pekerjaan operasional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2514600" cy="1627632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6479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C9D6"/>
                </a:solidFill>
                <a:latin typeface="Aptos"/>
              </a:rP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764792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Ringkasan operasional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600200"/>
            <a:ext cx="2514600" cy="1627632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76479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775C"/>
                </a:solidFill>
                <a:latin typeface="Aptos"/>
              </a:rPr>
              <a:t>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2232" y="1764792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Stok Ikan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221992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Kelola inventaris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4" y="1600200"/>
            <a:ext cx="2514600" cy="1627632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76479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6FE6DC"/>
                </a:solidFill>
                <a:latin typeface="Aptos"/>
              </a:rPr>
              <a:t>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8584" y="1764792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Tambah Ikan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2221992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Input produk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9136" y="1600200"/>
            <a:ext cx="2514600" cy="1627632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0304" y="176479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775C"/>
                </a:solidFill>
                <a:latin typeface="Aptos"/>
              </a:rPr>
              <a:t>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4936" y="1764792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Catat Penjualan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2221992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Transaksi stok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657600"/>
            <a:ext cx="2514600" cy="1627632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3822191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5B82"/>
                </a:solidFill>
                <a:latin typeface="Aptos"/>
              </a:rPr>
              <a:t>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822191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Riwayat Penjualan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279392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Audit transaksi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56432" y="3657600"/>
            <a:ext cx="2514600" cy="1627632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3822191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7CE8E"/>
                </a:solidFill>
                <a:latin typeface="Aptos"/>
              </a:rPr>
              <a:t>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42232" y="3822191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Catat Kematian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279392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Mortalitas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72784" y="3657600"/>
            <a:ext cx="2514600" cy="1627632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3822191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7CE8E"/>
                </a:solidFill>
                <a:latin typeface="Aptos"/>
              </a:rPr>
              <a:t>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58584" y="3822191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Riwayat Kematian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1384" y="4279392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Audit mortalitas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89136" y="3657600"/>
            <a:ext cx="2514600" cy="1627632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90304" y="3822191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C9D6"/>
                </a:solidFill>
                <a:latin typeface="Aptos"/>
              </a:rPr>
              <a:t>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74936" y="3822191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CEO Profile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17736" y="4279392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Akses pengguna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565392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AC4D2"/>
                </a:solidFill>
                <a:latin typeface="Aptos"/>
              </a:rPr>
              <a:t>SUMBER AQUARIUM PGK  •  CAPSTONE PROJECT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51967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2EC9D6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73152"/>
          </a:xfrm>
          <a:prstGeom prst="rect">
            <a:avLst/>
          </a:prstGeom>
          <a:solidFill>
            <a:srgbClr val="09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28816"/>
            <a:ext cx="12191695" cy="73152"/>
          </a:xfrm>
          <a:prstGeom prst="rect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EC9D6"/>
                </a:solidFill>
                <a:latin typeface="Aptos"/>
              </a:rPr>
              <a:t>04 •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5F9FC"/>
                </a:solidFill>
                <a:latin typeface="Aptos"/>
              </a:rPr>
              <a:t>Database menjaga relasi antara stok dan histori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2971800" cy="274320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99339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C9D6"/>
                </a:solidFill>
                <a:latin typeface="Aptos"/>
              </a:rPr>
              <a:t>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993392"/>
            <a:ext cx="2514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ikan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514600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id
nama • foto • kategori
jumlah • harga
created_at • updated_at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417320"/>
            <a:ext cx="2971800" cy="201168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18888" y="158191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775C"/>
                </a:solidFill>
                <a:latin typeface="Aptos"/>
              </a:rPr>
              <a:t>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581912"/>
            <a:ext cx="2514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riwayat_penjualan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039112"/>
            <a:ext cx="251460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id • ikan_id
jumlah • harga_satuan
total_harga • created_at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3703320"/>
            <a:ext cx="2971800" cy="201168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8888" y="3867911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7CE8E"/>
                </a:solidFill>
                <a:latin typeface="Aptos"/>
              </a:rPr>
              <a:t>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867911"/>
            <a:ext cx="2514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riwayat_kematian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325112"/>
            <a:ext cx="251460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id • ikan_id
jumlah • keterangan
created_at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0" y="2423160"/>
            <a:ext cx="2743200" cy="196596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96528" y="258775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6FE6DC"/>
                </a:solidFill>
                <a:latin typeface="Aptos"/>
              </a:rPr>
              <a:t>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2587752"/>
            <a:ext cx="2286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ceo_accounts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3044952"/>
            <a:ext cx="228600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id • username
password_hash
is_active • timestamps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611880" y="2423160"/>
            <a:ext cx="1005840" cy="640080"/>
          </a:xfrm>
          <a:prstGeom prst="line">
            <a:avLst/>
          </a:prstGeom>
          <a:ln w="31750">
            <a:solidFill>
              <a:srgbClr val="2EC9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11880" y="3246120"/>
            <a:ext cx="1005840" cy="1325880"/>
          </a:xfrm>
          <a:prstGeom prst="line">
            <a:avLst/>
          </a:prstGeom>
          <a:ln w="31750">
            <a:solidFill>
              <a:srgbClr val="47CE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589788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AAC4D2"/>
                </a:solidFill>
                <a:latin typeface="Aptos"/>
              </a:rPr>
              <a:t>Foreign key + CHECK constraint + index + trigger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65392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AC4D2"/>
                </a:solidFill>
                <a:latin typeface="Aptos"/>
              </a:rPr>
              <a:t>SUMBER AQUARIUM PGK  •  CAPSTONE PROJECT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51967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2EC9D6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73152"/>
          </a:xfrm>
          <a:prstGeom prst="rect">
            <a:avLst/>
          </a:prstGeom>
          <a:solidFill>
            <a:srgbClr val="09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28816"/>
            <a:ext cx="12191695" cy="73152"/>
          </a:xfrm>
          <a:prstGeom prst="rect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EC9D6"/>
                </a:solidFill>
                <a:latin typeface="Aptos"/>
              </a:rPr>
              <a:t>05 • ARSITEKTUR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5F9FC"/>
                </a:solidFill>
                <a:latin typeface="Aptos"/>
              </a:rPr>
              <a:t>Arsitektur memisahkan antarmuka, logika, dan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1417320"/>
            <a:ext cx="8458200" cy="658368"/>
          </a:xfrm>
          <a:prstGeom prst="roundRect">
            <a:avLst/>
          </a:prstGeom>
          <a:solidFill>
            <a:srgbClr val="092A44"/>
          </a:solidFill>
          <a:ln w="19050">
            <a:solidFill>
              <a:srgbClr val="2EC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1545336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C9D6"/>
                </a:solidFill>
                <a:latin typeface="Aptos"/>
              </a:rPr>
              <a:t>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545336"/>
            <a:ext cx="6035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9FC"/>
                </a:solidFill>
                <a:latin typeface="Aptos"/>
              </a:rPr>
              <a:t>HTML • CSS • Vanilla JavaScript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075688"/>
            <a:ext cx="0" cy="256032"/>
          </a:xfrm>
          <a:prstGeom prst="line">
            <a:avLst/>
          </a:prstGeom>
          <a:ln w="1524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28800" y="2331720"/>
            <a:ext cx="8458200" cy="658368"/>
          </a:xfrm>
          <a:prstGeom prst="roundRect">
            <a:avLst/>
          </a:prstGeom>
          <a:solidFill>
            <a:srgbClr val="092A44"/>
          </a:solidFill>
          <a:ln w="19050">
            <a:solidFill>
              <a:srgbClr val="6F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2459736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FE6DC"/>
                </a:solidFill>
                <a:latin typeface="Aptos"/>
              </a:rPr>
              <a:t>GUNICORN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459736"/>
            <a:ext cx="6035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9FC"/>
                </a:solidFill>
                <a:latin typeface="Aptos"/>
              </a:rPr>
              <a:t>WSGI application server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35040" y="2990087"/>
            <a:ext cx="0" cy="256033"/>
          </a:xfrm>
          <a:prstGeom prst="line">
            <a:avLst/>
          </a:prstGeom>
          <a:ln w="1524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828800" y="3246120"/>
            <a:ext cx="8458200" cy="658368"/>
          </a:xfrm>
          <a:prstGeom prst="roundRect">
            <a:avLst/>
          </a:prstGeom>
          <a:solidFill>
            <a:srgbClr val="092A44"/>
          </a:solidFill>
          <a:ln w="19050">
            <a:solidFill>
              <a:srgbClr val="FF7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57400" y="3374136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775C"/>
                </a:solidFill>
                <a:latin typeface="Aptos"/>
              </a:rPr>
              <a:t>FLASK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374136"/>
            <a:ext cx="6035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9FC"/>
                </a:solidFill>
                <a:latin typeface="Aptos"/>
              </a:rPr>
              <a:t>Routing • API • Auth • Validation • Business Logic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35040" y="3904487"/>
            <a:ext cx="0" cy="256033"/>
          </a:xfrm>
          <a:prstGeom prst="line">
            <a:avLst/>
          </a:prstGeom>
          <a:ln w="1524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828800" y="4160520"/>
            <a:ext cx="8458200" cy="658368"/>
          </a:xfrm>
          <a:prstGeom prst="roundRect">
            <a:avLst/>
          </a:prstGeom>
          <a:solidFill>
            <a:srgbClr val="092A44"/>
          </a:solidFill>
          <a:ln w="19050">
            <a:solidFill>
              <a:srgbClr val="47C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4288536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7CE8E"/>
                </a:solidFill>
                <a:latin typeface="Aptos"/>
              </a:rPr>
              <a:t>PSYcopg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288536"/>
            <a:ext cx="6035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9FC"/>
                </a:solidFill>
                <a:latin typeface="Aptos"/>
              </a:rPr>
              <a:t>Koneksi Python ↔ PostgreSQL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35040" y="4818888"/>
            <a:ext cx="0" cy="256032"/>
          </a:xfrm>
          <a:prstGeom prst="line">
            <a:avLst/>
          </a:prstGeom>
          <a:ln w="1524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828800" y="5074920"/>
            <a:ext cx="8458200" cy="658368"/>
          </a:xfrm>
          <a:prstGeom prst="roundRect">
            <a:avLst/>
          </a:prstGeom>
          <a:solidFill>
            <a:srgbClr val="092A44"/>
          </a:solidFill>
          <a:ln w="19050">
            <a:solidFill>
              <a:srgbClr val="0F5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57400" y="5202936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5B82"/>
                </a:solidFill>
                <a:latin typeface="Aptos"/>
              </a:rPr>
              <a:t>POSTGRESQL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5202936"/>
            <a:ext cx="6035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9FC"/>
                </a:solidFill>
                <a:latin typeface="Aptos"/>
              </a:rPr>
              <a:t>Inventory • Sales • Mortality • CEO accounts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78440" y="1600200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AC4D2"/>
                </a:solidFill>
                <a:latin typeface="Aptos"/>
              </a:rPr>
              <a:t>HTTP / 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5560" y="416052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AC4D2"/>
                </a:solidFill>
                <a:latin typeface="Aptos"/>
              </a:rPr>
              <a:t>Database access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65392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AC4D2"/>
                </a:solidFill>
                <a:latin typeface="Aptos"/>
              </a:rPr>
              <a:t>SUMBER AQUARIUM PGK  •  CAPSTONE PROJECT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51967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2EC9D6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73152"/>
          </a:xfrm>
          <a:prstGeom prst="rect">
            <a:avLst/>
          </a:prstGeom>
          <a:solidFill>
            <a:srgbClr val="09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28816"/>
            <a:ext cx="12191695" cy="73152"/>
          </a:xfrm>
          <a:prstGeom prst="rect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EC9D6"/>
                </a:solidFill>
                <a:latin typeface="Aptos"/>
              </a:rPr>
              <a:t>06 • TRANSAKSI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5F9FC"/>
                </a:solidFill>
                <a:latin typeface="Aptos"/>
              </a:rPr>
              <a:t>Transaksi penjualan dirancang untuk mencegah stok tidak konsisten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65960"/>
            <a:ext cx="621792" cy="621792"/>
          </a:xfrm>
          <a:prstGeom prst="ellipse">
            <a:avLst/>
          </a:prstGeom>
          <a:solidFill>
            <a:srgbClr val="2EC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84248"/>
            <a:ext cx="62179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9FC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274320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EC9D6"/>
                </a:solidFill>
                <a:latin typeface="Aptos"/>
              </a:rPr>
              <a:t>POST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127248"/>
            <a:ext cx="1645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5F9FC"/>
                </a:solidFill>
                <a:latin typeface="Aptos"/>
              </a:rPr>
              <a:t>/api/penjualan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88720" y="2276856"/>
            <a:ext cx="1143000" cy="0"/>
          </a:xfrm>
          <a:prstGeom prst="line">
            <a:avLst/>
          </a:prstGeom>
          <a:ln w="1778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450591" y="1965960"/>
            <a:ext cx="621792" cy="621792"/>
          </a:xfrm>
          <a:prstGeom prst="ellipse">
            <a:avLst/>
          </a:prstGeom>
          <a:solidFill>
            <a:srgbClr val="6F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0591" y="1984248"/>
            <a:ext cx="62179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9FC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0551" y="274320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6FE6DC"/>
                </a:solidFill>
                <a:latin typeface="Aptos"/>
              </a:rPr>
              <a:t>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7672" y="3127248"/>
            <a:ext cx="1645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5F9FC"/>
                </a:solidFill>
                <a:latin typeface="Aptos"/>
              </a:rPr>
              <a:t>ikan + jumlah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36391" y="2276856"/>
            <a:ext cx="1143001" cy="0"/>
          </a:xfrm>
          <a:prstGeom prst="line">
            <a:avLst/>
          </a:prstGeom>
          <a:ln w="1778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398264" y="1965960"/>
            <a:ext cx="621792" cy="621792"/>
          </a:xfrm>
          <a:prstGeom prst="ellipse">
            <a:avLst/>
          </a:prstGeom>
          <a:solidFill>
            <a:srgbClr val="FF7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8264" y="1984248"/>
            <a:ext cx="62179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9FC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274320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775C"/>
                </a:solidFill>
                <a:latin typeface="Aptos"/>
              </a:rPr>
              <a:t>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5344" y="3127248"/>
            <a:ext cx="1645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5F9FC"/>
                </a:solidFill>
                <a:latin typeface="Aptos"/>
              </a:rPr>
              <a:t>SELECT FOR UPDATE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84064" y="2276856"/>
            <a:ext cx="1143000" cy="0"/>
          </a:xfrm>
          <a:prstGeom prst="line">
            <a:avLst/>
          </a:prstGeom>
          <a:ln w="1778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345936" y="1965960"/>
            <a:ext cx="621792" cy="621792"/>
          </a:xfrm>
          <a:prstGeom prst="ellipse">
            <a:avLst/>
          </a:prstGeom>
          <a:solidFill>
            <a:srgbClr val="47C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984248"/>
            <a:ext cx="62179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9FC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25896" y="274320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47CE8E"/>
                </a:solidFill>
                <a:latin typeface="Aptos"/>
              </a:rPr>
              <a:t>UPDATE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3016" y="3127248"/>
            <a:ext cx="1645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5F9FC"/>
                </a:solidFill>
                <a:latin typeface="Aptos"/>
              </a:rPr>
              <a:t>kurangi stok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031736" y="2276856"/>
            <a:ext cx="1143000" cy="0"/>
          </a:xfrm>
          <a:prstGeom prst="line">
            <a:avLst/>
          </a:prstGeom>
          <a:ln w="1778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8293608" y="1965960"/>
            <a:ext cx="621792" cy="621792"/>
          </a:xfrm>
          <a:prstGeom prst="ellipse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3608" y="1984248"/>
            <a:ext cx="62179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9FC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274320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F5B82"/>
                </a:solidFill>
                <a:latin typeface="Aptos"/>
              </a:rPr>
              <a:t>INSERT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3127248"/>
            <a:ext cx="1645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5F9FC"/>
                </a:solidFill>
                <a:latin typeface="Aptos"/>
              </a:rPr>
              <a:t>simpan histori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979408" y="2276856"/>
            <a:ext cx="1143000" cy="0"/>
          </a:xfrm>
          <a:prstGeom prst="line">
            <a:avLst/>
          </a:prstGeom>
          <a:ln w="1778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0241280" y="1965960"/>
            <a:ext cx="621792" cy="621792"/>
          </a:xfrm>
          <a:prstGeom prst="ellipse">
            <a:avLst/>
          </a:prstGeom>
          <a:solidFill>
            <a:srgbClr val="2EC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0" y="1984248"/>
            <a:ext cx="621792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5F9FC"/>
                </a:solidFill>
                <a:latin typeface="Apto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274320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EC9D6"/>
                </a:solidFill>
                <a:latin typeface="Aptos"/>
              </a:rPr>
              <a:t>COMMIT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59" y="3127248"/>
            <a:ext cx="1645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5F9FC"/>
                </a:solidFill>
                <a:latin typeface="Aptos"/>
              </a:rPr>
              <a:t>satu transaksi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251960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C9D6"/>
                </a:solidFill>
                <a:latin typeface="Aptos"/>
              </a:rPr>
              <a:t>Prinsip utama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645152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F9FC"/>
                </a:solidFill>
                <a:latin typeface="Aptos"/>
              </a:rPr>
              <a:t>Pengurangan stok dan pencatatan transaksi berada dalam transaksi PostgreSQL.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285232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AC4D2"/>
                </a:solidFill>
                <a:latin typeface="Aptos"/>
              </a:rPr>
              <a:t>Pola serupa digunakan pada pencatatan kematian.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565392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AC4D2"/>
                </a:solidFill>
                <a:latin typeface="Aptos"/>
              </a:rPr>
              <a:t>SUMBER AQUARIUM PGK  •  CAPSTONE PROJECT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51967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2EC9D6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73152"/>
          </a:xfrm>
          <a:prstGeom prst="rect">
            <a:avLst/>
          </a:prstGeom>
          <a:solidFill>
            <a:srgbClr val="09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28816"/>
            <a:ext cx="12191695" cy="73152"/>
          </a:xfrm>
          <a:prstGeom prst="rect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EC9D6"/>
                </a:solidFill>
                <a:latin typeface="Aptos"/>
              </a:rPr>
              <a:t>07 •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5F9FC"/>
                </a:solidFill>
                <a:latin typeface="Aptos"/>
              </a:rPr>
              <a:t>Lapisan keamanan diterapkan dari login sampai database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3337560" cy="173736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6479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C9D6"/>
                </a:solidFill>
                <a:latin typeface="Aptos"/>
              </a:rPr>
              <a:t>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764792"/>
            <a:ext cx="2880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Argon2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288036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Password tidak disimpan plaintext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00200"/>
            <a:ext cx="3337560" cy="173736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76479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C9D6"/>
                </a:solidFill>
                <a:latin typeface="Aptos"/>
              </a:rPr>
              <a:t>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764792"/>
            <a:ext cx="2880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Session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21992"/>
            <a:ext cx="288036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Akses operasional berbasis session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600200"/>
            <a:ext cx="3337560" cy="173736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76479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775C"/>
                </a:solidFill>
                <a:latin typeface="Aptos"/>
              </a:rPr>
              <a:t>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1764792"/>
            <a:ext cx="2880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Rate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221992"/>
            <a:ext cx="288036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Login dibatasi 5 request/menit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49039"/>
            <a:ext cx="3337560" cy="173736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913631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6FE6DC"/>
                </a:solidFill>
                <a:latin typeface="Aptos"/>
              </a:rPr>
              <a:t>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913631"/>
            <a:ext cx="2880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370831"/>
            <a:ext cx="288036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Input, integer, harga, JSON, 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749039"/>
            <a:ext cx="3337560" cy="173736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3913631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5B82"/>
                </a:solidFill>
                <a:latin typeface="Aptos"/>
              </a:rPr>
              <a:t>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913631"/>
            <a:ext cx="2880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370831"/>
            <a:ext cx="288036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X-Content-Type-Options, X-Frame-Options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749039"/>
            <a:ext cx="3337560" cy="173736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3913631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7CE8E"/>
                </a:solidFill>
                <a:latin typeface="Aptos"/>
              </a:rPr>
              <a:t>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19" y="3913631"/>
            <a:ext cx="2880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DB integrity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370831"/>
            <a:ext cx="288036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FK, CHECK, transaction, row locking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89788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AC4D2"/>
                </a:solidFill>
                <a:latin typeface="Aptos"/>
              </a:rPr>
              <a:t>Catatan: pengujian keamanan deployment publik tetap perlu dilakukan pada environment sebenarnya.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565392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AC4D2"/>
                </a:solidFill>
                <a:latin typeface="Aptos"/>
              </a:rPr>
              <a:t>SUMBER AQUARIUM PGK  •  CAPSTONE PROJECT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51967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2EC9D6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73152"/>
          </a:xfrm>
          <a:prstGeom prst="rect">
            <a:avLst/>
          </a:prstGeom>
          <a:solidFill>
            <a:srgbClr val="09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28816"/>
            <a:ext cx="12191695" cy="73152"/>
          </a:xfrm>
          <a:prstGeom prst="rect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EC9D6"/>
                </a:solidFill>
                <a:latin typeface="Aptos"/>
              </a:rPr>
              <a:t>08 • USER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5F9FC"/>
                </a:solidFill>
                <a:latin typeface="Aptos"/>
              </a:rPr>
              <a:t>Alur pengguna dibuat sederhana: login → operasi → histori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331720"/>
            <a:ext cx="914400" cy="914400"/>
          </a:xfrm>
          <a:prstGeom prst="ellipse">
            <a:avLst/>
          </a:prstGeom>
          <a:solidFill>
            <a:srgbClr val="2EC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50008"/>
            <a:ext cx="91440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7192D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9FC"/>
                </a:solidFill>
                <a:latin typeface="Aptos"/>
              </a:rPr>
              <a:t>LOGIN CEO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64208" y="2788920"/>
            <a:ext cx="1078992" cy="0"/>
          </a:xfrm>
          <a:prstGeom prst="line">
            <a:avLst/>
          </a:prstGeom>
          <a:ln w="2540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788920" y="2331720"/>
            <a:ext cx="914400" cy="914400"/>
          </a:xfrm>
          <a:prstGeom prst="ellipse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350008"/>
            <a:ext cx="91440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5F9FC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2032" y="3383280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9FC"/>
                </a:solidFill>
                <a:latin typeface="Aptos"/>
              </a:rPr>
              <a:t>DASHBOARD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30752" y="2788920"/>
            <a:ext cx="1069848" cy="0"/>
          </a:xfrm>
          <a:prstGeom prst="line">
            <a:avLst/>
          </a:prstGeom>
          <a:ln w="2540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846320" y="2331720"/>
            <a:ext cx="914400" cy="914400"/>
          </a:xfrm>
          <a:prstGeom prst="ellipse">
            <a:avLst/>
          </a:prstGeom>
          <a:solidFill>
            <a:srgbClr val="FF7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350008"/>
            <a:ext cx="91440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5F9FC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38328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9FC"/>
                </a:solidFill>
                <a:latin typeface="Aptos"/>
              </a:rPr>
              <a:t>PILIH OPERASI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88152" y="2788920"/>
            <a:ext cx="1069848" cy="0"/>
          </a:xfrm>
          <a:prstGeom prst="line">
            <a:avLst/>
          </a:prstGeom>
          <a:ln w="2540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903720" y="2331720"/>
            <a:ext cx="914400" cy="914400"/>
          </a:xfrm>
          <a:prstGeom prst="ellipse">
            <a:avLst/>
          </a:prstGeom>
          <a:solidFill>
            <a:srgbClr val="47C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350008"/>
            <a:ext cx="91440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5F9FC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383280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9FC"/>
                </a:solidFill>
                <a:latin typeface="Aptos"/>
              </a:rPr>
              <a:t>SIMPAN DATA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45552" y="2788920"/>
            <a:ext cx="1069848" cy="0"/>
          </a:xfrm>
          <a:prstGeom prst="line">
            <a:avLst/>
          </a:prstGeom>
          <a:ln w="25400">
            <a:solidFill>
              <a:srgbClr val="AAC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961120" y="2331720"/>
            <a:ext cx="914400" cy="914400"/>
          </a:xfrm>
          <a:prstGeom prst="ellipse">
            <a:avLst/>
          </a:prstGeom>
          <a:solidFill>
            <a:srgbClr val="6F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0" y="2350008"/>
            <a:ext cx="91440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7192D"/>
                </a:solidFill>
                <a:latin typeface="Apto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338328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9FC"/>
                </a:solidFill>
                <a:latin typeface="Aptos"/>
              </a:rPr>
              <a:t>RIWAYAT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4251960"/>
            <a:ext cx="6675120" cy="1051560"/>
          </a:xfrm>
          <a:prstGeom prst="roundRect">
            <a:avLst/>
          </a:prstGeom>
          <a:solidFill>
            <a:srgbClr val="092A44"/>
          </a:solidFill>
          <a:ln w="12700">
            <a:solidFill>
              <a:srgbClr val="224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44368" y="441655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C9D6"/>
                </a:solidFill>
                <a:latin typeface="Aptos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4416552"/>
            <a:ext cx="6217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9FC"/>
                </a:solidFill>
                <a:latin typeface="Aptos"/>
              </a:rPr>
              <a:t>Satu aksi penting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4873752"/>
            <a:ext cx="6217920" cy="246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C4D2"/>
                </a:solidFill>
                <a:latin typeface="Aptos"/>
              </a:rPr>
              <a:t>Perubahan stok selalu tercermin dalam data operasional yang dapat ditelusuri.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565392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AC4D2"/>
                </a:solidFill>
                <a:latin typeface="Aptos"/>
              </a:rPr>
              <a:t>SUMBER AQUARIUM PGK  •  CAPSTONE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51967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2EC9D6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73152"/>
          </a:xfrm>
          <a:prstGeom prst="rect">
            <a:avLst/>
          </a:prstGeom>
          <a:solidFill>
            <a:srgbClr val="09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28816"/>
            <a:ext cx="12191695" cy="73152"/>
          </a:xfrm>
          <a:prstGeom prst="rect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EC9D6"/>
                </a:solidFill>
                <a:latin typeface="Aptos"/>
              </a:rPr>
              <a:t>09 •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5F9FC"/>
                </a:solidFill>
                <a:latin typeface="Aptos"/>
              </a:rPr>
              <a:t>Stack dipilih untuk aplikasi web internal yang ringan dan terkontrol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45920"/>
            <a:ext cx="3337560" cy="1645920"/>
          </a:xfrm>
          <a:prstGeom prst="roundRect">
            <a:avLst/>
          </a:prstGeom>
          <a:solidFill>
            <a:srgbClr val="092A44"/>
          </a:solidFill>
          <a:ln w="17780">
            <a:solidFill>
              <a:srgbClr val="2EC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0195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C9D6"/>
                </a:solidFill>
                <a:latin typeface="Aptos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8716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9FC"/>
                </a:solidFill>
                <a:latin typeface="Aptos"/>
              </a:rPr>
              <a:t>Backend &amp; business logic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645920"/>
            <a:ext cx="3337560" cy="1645920"/>
          </a:xfrm>
          <a:prstGeom prst="roundRect">
            <a:avLst/>
          </a:prstGeom>
          <a:solidFill>
            <a:srgbClr val="092A44"/>
          </a:solidFill>
          <a:ln w="17780">
            <a:solidFill>
              <a:srgbClr val="FF7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90195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775C"/>
                </a:solidFill>
                <a:latin typeface="Aptos"/>
              </a:rPr>
              <a:t>FLASK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48716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9FC"/>
                </a:solidFill>
                <a:latin typeface="Aptos"/>
              </a:rPr>
              <a:t>HTTP routing &amp; REST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645920"/>
            <a:ext cx="3337560" cy="1645920"/>
          </a:xfrm>
          <a:prstGeom prst="roundRect">
            <a:avLst/>
          </a:prstGeom>
          <a:solidFill>
            <a:srgbClr val="092A44"/>
          </a:solidFill>
          <a:ln w="17780">
            <a:solidFill>
              <a:srgbClr val="0F5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90195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5B82"/>
                </a:solidFill>
                <a:latin typeface="Aptos"/>
              </a:rPr>
              <a:t>POSTGRESQL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48716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9FC"/>
                </a:solidFill>
                <a:latin typeface="Aptos"/>
              </a:rPr>
              <a:t>Relational data store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794760"/>
            <a:ext cx="3337560" cy="1645920"/>
          </a:xfrm>
          <a:prstGeom prst="roundRect">
            <a:avLst/>
          </a:prstGeom>
          <a:solidFill>
            <a:srgbClr val="092A44"/>
          </a:solidFill>
          <a:ln w="17780">
            <a:solidFill>
              <a:srgbClr val="47C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507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7CE8E"/>
                </a:solidFill>
                <a:latin typeface="Aptos"/>
              </a:rPr>
              <a:t>PSYCOPG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63600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9FC"/>
                </a:solidFill>
                <a:latin typeface="Aptos"/>
              </a:rPr>
              <a:t>Database driver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794760"/>
            <a:ext cx="3337560" cy="1645920"/>
          </a:xfrm>
          <a:prstGeom prst="roundRect">
            <a:avLst/>
          </a:prstGeom>
          <a:solidFill>
            <a:srgbClr val="092A44"/>
          </a:solidFill>
          <a:ln w="17780">
            <a:solidFill>
              <a:srgbClr val="6F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40507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6FE6DC"/>
                </a:solidFill>
                <a:latin typeface="Aptos"/>
              </a:rPr>
              <a:t>VANILLA 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463600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9FC"/>
                </a:solidFill>
                <a:latin typeface="Aptos"/>
              </a:rPr>
              <a:t>Frontend interaction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3794760"/>
            <a:ext cx="3337560" cy="1645920"/>
          </a:xfrm>
          <a:prstGeom prst="roundRect">
            <a:avLst/>
          </a:prstGeom>
          <a:solidFill>
            <a:srgbClr val="092A44"/>
          </a:solidFill>
          <a:ln w="17780">
            <a:solidFill>
              <a:srgbClr val="AAC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40507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AAC4D2"/>
                </a:solidFill>
                <a:latin typeface="Aptos"/>
              </a:rPr>
              <a:t>GUNICORN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463600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9FC"/>
                </a:solidFill>
                <a:latin typeface="Aptos"/>
              </a:rPr>
              <a:t>WSGI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5216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AC4D2"/>
                </a:solidFill>
                <a:latin typeface="Aptos"/>
              </a:rPr>
              <a:t>Frontend sengaja tanpa React / Vue / Angular; interaksi dilakukan dengan HTML, CSS, dan Vanilla JavaScript.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65392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AC4D2"/>
                </a:solidFill>
                <a:latin typeface="Aptos"/>
              </a:rPr>
              <a:t>SUMBER AQUARIUM PGK  •  CAPSTONE PROJECT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51967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2EC9D6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73152"/>
          </a:xfrm>
          <a:prstGeom prst="rect">
            <a:avLst/>
          </a:prstGeom>
          <a:solidFill>
            <a:srgbClr val="09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28816"/>
            <a:ext cx="12191695" cy="73152"/>
          </a:xfrm>
          <a:prstGeom prst="rect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EC9D6"/>
                </a:solidFill>
                <a:latin typeface="Aptos"/>
              </a:rPr>
              <a:t>10 •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5F9FC"/>
                </a:solidFill>
                <a:latin typeface="Aptos"/>
              </a:rPr>
              <a:t>Urutan demo yang enak: tunjukkan alur nyata, bukan kode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1554480"/>
            <a:ext cx="502920" cy="502920"/>
          </a:xfrm>
          <a:prstGeom prst="ellipse">
            <a:avLst/>
          </a:prstGeom>
          <a:solidFill>
            <a:srgbClr val="2EC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1572768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9FC"/>
                </a:solidFill>
                <a:latin typeface="Aptos"/>
              </a:rPr>
              <a:t>Login CEO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1938528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AC4D2"/>
                </a:solidFill>
                <a:latin typeface="Aptos"/>
              </a:rPr>
              <a:t>Masuk ke sistem</a:t>
            </a:r>
          </a:p>
        </p:txBody>
      </p:sp>
      <p:sp>
        <p:nvSpPr>
          <p:cNvPr id="10" name="Oval 9"/>
          <p:cNvSpPr/>
          <p:nvPr/>
        </p:nvSpPr>
        <p:spPr>
          <a:xfrm>
            <a:off x="3474720" y="1554480"/>
            <a:ext cx="502920" cy="502920"/>
          </a:xfrm>
          <a:prstGeom prst="ellipse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572768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7" y="1572768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9FC"/>
                </a:solidFill>
                <a:latin typeface="Aptos"/>
              </a:rPr>
              <a:t>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3087" y="1938528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AC4D2"/>
                </a:solidFill>
                <a:latin typeface="Aptos"/>
              </a:rPr>
              <a:t>Tunjukkan ringkasan</a:t>
            </a:r>
          </a:p>
        </p:txBody>
      </p:sp>
      <p:sp>
        <p:nvSpPr>
          <p:cNvPr id="14" name="Oval 13"/>
          <p:cNvSpPr/>
          <p:nvPr/>
        </p:nvSpPr>
        <p:spPr>
          <a:xfrm>
            <a:off x="6355080" y="1554480"/>
            <a:ext cx="502920" cy="502920"/>
          </a:xfrm>
          <a:prstGeom prst="ellipse">
            <a:avLst/>
          </a:prstGeom>
          <a:solidFill>
            <a:srgbClr val="FF7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72768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3448" y="1572768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9FC"/>
                </a:solidFill>
                <a:latin typeface="Aptos"/>
              </a:rPr>
              <a:t>Stok Ikan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3448" y="1938528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AC4D2"/>
                </a:solidFill>
                <a:latin typeface="Aptos"/>
              </a:rPr>
              <a:t>Cari / tambah / ubah data</a:t>
            </a:r>
          </a:p>
        </p:txBody>
      </p:sp>
      <p:sp>
        <p:nvSpPr>
          <p:cNvPr id="18" name="Oval 17"/>
          <p:cNvSpPr/>
          <p:nvPr/>
        </p:nvSpPr>
        <p:spPr>
          <a:xfrm>
            <a:off x="9235440" y="1554480"/>
            <a:ext cx="502920" cy="502920"/>
          </a:xfrm>
          <a:prstGeom prst="ellipse">
            <a:avLst/>
          </a:prstGeom>
          <a:solidFill>
            <a:srgbClr val="2EC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572768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93808" y="1572768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9FC"/>
                </a:solidFill>
                <a:latin typeface="Aptos"/>
              </a:rPr>
              <a:t>Penjualan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93808" y="1938528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AC4D2"/>
                </a:solidFill>
                <a:latin typeface="Aptos"/>
              </a:rPr>
              <a:t>Buat satu transaksi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" y="3657600"/>
            <a:ext cx="502920" cy="502920"/>
          </a:xfrm>
          <a:prstGeom prst="ellipse">
            <a:avLst/>
          </a:prstGeom>
          <a:solidFill>
            <a:srgbClr val="47C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75887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52728" y="3675887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9FC"/>
                </a:solidFill>
                <a:latin typeface="Aptos"/>
              </a:rPr>
              <a:t>Cek Stok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52728" y="4041648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AC4D2"/>
                </a:solidFill>
                <a:latin typeface="Aptos"/>
              </a:rPr>
              <a:t>Pastikan jumlah berubah</a:t>
            </a:r>
          </a:p>
        </p:txBody>
      </p:sp>
      <p:sp>
        <p:nvSpPr>
          <p:cNvPr id="26" name="Oval 25"/>
          <p:cNvSpPr/>
          <p:nvPr/>
        </p:nvSpPr>
        <p:spPr>
          <a:xfrm>
            <a:off x="3474720" y="3657600"/>
            <a:ext cx="502920" cy="502920"/>
          </a:xfrm>
          <a:prstGeom prst="ellipse">
            <a:avLst/>
          </a:prstGeom>
          <a:solidFill>
            <a:srgbClr val="6F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3675887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3087" y="3675887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9FC"/>
                </a:solidFill>
                <a:latin typeface="Aptos"/>
              </a:rPr>
              <a:t>Riwayat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3087" y="4041648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AC4D2"/>
                </a:solidFill>
                <a:latin typeface="Aptos"/>
              </a:rPr>
              <a:t>Tunjukkan transaksi tercatat</a:t>
            </a:r>
          </a:p>
        </p:txBody>
      </p:sp>
      <p:sp>
        <p:nvSpPr>
          <p:cNvPr id="30" name="Oval 29"/>
          <p:cNvSpPr/>
          <p:nvPr/>
        </p:nvSpPr>
        <p:spPr>
          <a:xfrm>
            <a:off x="6355080" y="3657600"/>
            <a:ext cx="502920" cy="502920"/>
          </a:xfrm>
          <a:prstGeom prst="ellipse">
            <a:avLst/>
          </a:prstGeom>
          <a:solidFill>
            <a:srgbClr val="47C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675887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13448" y="3675887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9FC"/>
                </a:solidFill>
                <a:latin typeface="Aptos"/>
              </a:rPr>
              <a:t>Kematian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3448" y="4041648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AC4D2"/>
                </a:solidFill>
                <a:latin typeface="Aptos"/>
              </a:rPr>
              <a:t>Catat mortalitas</a:t>
            </a:r>
          </a:p>
        </p:txBody>
      </p:sp>
      <p:sp>
        <p:nvSpPr>
          <p:cNvPr id="34" name="Oval 33"/>
          <p:cNvSpPr/>
          <p:nvPr/>
        </p:nvSpPr>
        <p:spPr>
          <a:xfrm>
            <a:off x="9235440" y="3657600"/>
            <a:ext cx="502920" cy="502920"/>
          </a:xfrm>
          <a:prstGeom prst="ellipse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0" y="3675887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93808" y="3675887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9FC"/>
                </a:solidFill>
                <a:latin typeface="Aptos"/>
              </a:rPr>
              <a:t>Riwayat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93808" y="4041648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AC4D2"/>
                </a:solidFill>
                <a:latin typeface="Aptos"/>
              </a:rPr>
              <a:t>Tunjukkan audit operasional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760720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AC4D2"/>
                </a:solidFill>
                <a:latin typeface="Aptos"/>
              </a:rPr>
              <a:t>Tip presentasi: buka browser di layar utama, lalu ikuti urutan ini sambil menjelaskan perubahan data.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565392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AC4D2"/>
                </a:solidFill>
                <a:latin typeface="Aptos"/>
              </a:rPr>
              <a:t>SUMBER AQUARIUM PGK  •  CAPSTONE PROJECT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51967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2EC9D6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73152"/>
          </a:xfrm>
          <a:prstGeom prst="rect">
            <a:avLst/>
          </a:prstGeom>
          <a:solidFill>
            <a:srgbClr val="09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28816"/>
            <a:ext cx="12191695" cy="73152"/>
          </a:xfrm>
          <a:prstGeom prst="rect">
            <a:avLst/>
          </a:prstGeom>
          <a:solidFill>
            <a:srgbClr val="0F5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6FE6DC"/>
                </a:solidFill>
                <a:latin typeface="Aptos"/>
              </a:rPr>
              <a:t>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987552"/>
            <a:ext cx="89611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5F9FC"/>
                </a:solidFill>
                <a:latin typeface="Aptos"/>
              </a:rPr>
              <a:t>Satu sistem untuk melihat, mengubah,
dan menelusuri operasional aquarium.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697480"/>
            <a:ext cx="8138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AAC4D2"/>
                </a:solidFill>
                <a:latin typeface="Aptos"/>
              </a:rPr>
              <a:t>Sumber Aquarium PGK menggabungkan inventaris, penjualan, mortalitas, histori, dashboard, dan autentikasi dalam satu aplikasi web.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977639"/>
            <a:ext cx="1371600" cy="310896"/>
          </a:xfrm>
          <a:prstGeom prst="roundRect">
            <a:avLst/>
          </a:prstGeom>
          <a:solidFill>
            <a:srgbClr val="2EC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3986783"/>
            <a:ext cx="13716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INVENTORY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3977639"/>
            <a:ext cx="1600200" cy="310896"/>
          </a:xfrm>
          <a:prstGeom prst="roundRect">
            <a:avLst/>
          </a:prstGeom>
          <a:solidFill>
            <a:srgbClr val="FF7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3986783"/>
            <a:ext cx="1600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TRANSACTION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7488" y="3977639"/>
            <a:ext cx="1691640" cy="310896"/>
          </a:xfrm>
          <a:prstGeom prst="roundRect">
            <a:avLst/>
          </a:prstGeom>
          <a:solidFill>
            <a:srgbClr val="47C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7488" y="3986783"/>
            <a:ext cx="1691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TRACEABILITY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12864" y="3977639"/>
            <a:ext cx="1325880" cy="310896"/>
          </a:xfrm>
          <a:prstGeom prst="roundRect">
            <a:avLst/>
          </a:prstGeom>
          <a:solidFill>
            <a:srgbClr val="6F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2864" y="3986783"/>
            <a:ext cx="13258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92D"/>
                </a:solidFill>
                <a:latin typeface="Aptos"/>
              </a:rPr>
              <a:t>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892040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EC9D6"/>
                </a:solidFill>
                <a:latin typeface="Aptos"/>
              </a:rPr>
              <a:t>GitHub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4855464"/>
            <a:ext cx="5212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9FC"/>
                </a:solidFill>
                <a:latin typeface="Aptos"/>
              </a:rPr>
              <a:t>Zzzzzzzpeng/sumber-aquarium-pgk2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5577840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9FC"/>
                </a:solidFill>
                <a:latin typeface="Aptos"/>
              </a:rPr>
              <a:t>Q&amp;A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65392"/>
            <a:ext cx="5486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AAC4D2"/>
                </a:solidFill>
                <a:latin typeface="Aptos"/>
              </a:rPr>
              <a:t>SUMBER AQUARIUM PGK  •  CAPSTONE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51967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2EC9D6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Sumber Aquarium PGK — Presentasi Capstone Project</dc:title>
  <dc:subject>Sistem Manajemen dan Inventaris Toko Ikan Hias</dc:subject>
  <dc:creator>Kelompok Capstone Project</dc:creator>
  <cp:keywords>Sumber Aquarium, Flask, PostgreSQL, Inventory, Sales, Mortality, Capstone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